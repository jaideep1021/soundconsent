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971800"/>
            <a:ext cx="914400" cy="91440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560320"/>
            <a:ext cx="1737360" cy="173736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2148840"/>
            <a:ext cx="2560320" cy="256032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1737360"/>
            <a:ext cx="3383280" cy="338328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325880"/>
            <a:ext cx="4206240" cy="420624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960120"/>
            <a:ext cx="4937760" cy="4937760"/>
          </a:xfrm>
          <a:prstGeom prst="ellipse">
            <a:avLst/>
          </a:prstGeom>
          <a:solidFill>
            <a:srgbClr val="0E2A2B">
              <a:alpha val="0"/>
            </a:srgbClr>
          </a:solidFill>
          <a:ln w="15875">
            <a:solidFill>
              <a:srgbClr val="F2A65A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REGENERON TRACK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SoundConsent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A9B8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Teach-It-Back Consent Companion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1097280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46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explains the consent form, checks real understanding, and shows the clinician exactly where to focus.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patients sign without fully understanding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52.1%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randomization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9704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9704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risks and side effects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6448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75.8%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freedom to withdraw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206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estimates from a 2015 meta-analysis of 103 studies and 135 participant cohorts (Tam et al., Bulletin of the WHO).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Teach-back works, but it costs clinician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+3.2 pts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with repeat-back: 71.4% vs 68.2% (575-patient randomized trial, P = 0.03)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9704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9704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+2.6 min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staff time per patient for manual repeat-back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2286000"/>
            <a:ext cx="3209544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6448" y="25603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of 13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3474720"/>
            <a:ext cx="3209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interventions significantly improved comprehension (2020 review, 52 studies)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206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Fink et al., Annals of Surgery 2010; Glaser et al., Medical Decision Making 2020. External research, not SoundConsent results.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Explain, check, clarify, hand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292858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22928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walkthrough of each consent form section by text, dictation or live voice.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73018" y="2286000"/>
            <a:ext cx="2292858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3018" y="256032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73018" y="347472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73018" y="3886200"/>
            <a:ext cx="22928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explains it back in their own words; the AI grades it against the form.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3076" y="2286000"/>
            <a:ext cx="2292858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3076" y="256032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347472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23076" y="3886200"/>
            <a:ext cx="22928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re-explanation by default. Questions never use up an attempt.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73134" y="2286000"/>
            <a:ext cx="2292858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3134" y="256032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073134" y="3474720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073134" y="3886200"/>
            <a:ext cx="22928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Understanding Report flags the gaps for the human-led consent discussion.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clinician gets time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B8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194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SoundConsent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4814316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1676" y="2697480"/>
            <a:ext cx="4814316" cy="0"/>
          </a:xfrm>
          <a:prstGeom prst="line">
            <a:avLst/>
          </a:prstGeom>
          <a:noFill/>
          <a:ln w="9525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48143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long form from the top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which parts were not understood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Repeat-back adds minutes per patient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2926080"/>
            <a:ext cx="48143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and checks before the visit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shows exactly which sections need work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questions are routed to the clinician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are assigned and tracked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692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is the design goal, to be measured as total staff minutes.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built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Voice, chat, dictation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ElevenLabs voice with text fallback; reviews can be resumed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form ingestion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06324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uploads up to 20 MiB, version allow-list, editable sections, immutable snapshots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Report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84048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assessments, JSON export, follow-up owners and due dates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61772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staff and patient accounts, study-scoped access, invitations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39496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actions and revision checks prevent duplicate grading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and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TanStack Query, Tailwind CSS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06324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24, Fastify, PDF extraction, review workflow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84048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text, embeddings and transcription, with a source-grounding check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61772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browser SDK over WebSocket with signed conversation URLs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394960"/>
            <a:ext cx="7068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append-only log for tamper evidence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medical advice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068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questions go to the clinical team and into the report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takes consent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154680"/>
            <a:ext cx="7068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investigator always conducts the final discussion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Source-grounded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023360"/>
            <a:ext cx="7068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the consent form, verified by a second check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892040"/>
            <a:ext cx="7068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for public or synthetic data; no clinical effectiveness claimed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prove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08792" y="685800"/>
            <a:ext cx="182880" cy="182880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576072"/>
            <a:ext cx="402336" cy="402336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9336" y="466344"/>
            <a:ext cx="621792" cy="621792"/>
          </a:xfrm>
          <a:prstGeom prst="ellipse">
            <a:avLst/>
          </a:prstGeom>
          <a:solidFill>
            <a:srgbClr val="0E2A2B">
              <a:alpha val="0"/>
            </a:srgbClr>
          </a:solidFill>
          <a:ln w="12700">
            <a:solidFill>
              <a:srgbClr val="F2A65A">
                <a:alpha val="76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SoundConsent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scored comprehension, with vs without SoundConsent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reliability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01752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grades compared with blinded human reviewers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 value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74904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found before the visit and resolved after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minutes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48056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coordinator time across the full workflow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and reach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21208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Drop-off, escalations, differences by literacy and language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760720"/>
            <a:ext cx="10543032" cy="0"/>
          </a:xfrm>
          <a:prstGeom prst="line">
            <a:avLst/>
          </a:prstGeom>
          <a:noFill/>
          <a:ln w="9525">
            <a:solidFill>
              <a:srgbClr val="4A6B6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SoundConsent</dc:title>
  <dc:subject>PptxGenJS Presentation</dc:subject>
  <dc:creator>PptxGenJS</dc:creator>
  <cp:lastModifiedBy>PptxGenJS</cp:lastModifiedBy>
  <cp:revision>1</cp:revision>
  <dcterms:created xsi:type="dcterms:W3CDTF">2026-10-11T13:52:06Z</dcterms:created>
  <dcterms:modified xsi:type="dcterms:W3CDTF">2026-10-11T13:52:06Z</dcterms:modified>
</cp:coreProperties>
</file>